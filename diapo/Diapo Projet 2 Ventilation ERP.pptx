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DM Sans" pitchFamily="2" charset="0"/>
      <p:regular r:id="rId49"/>
      <p:bold r:id="rId50"/>
      <p:italic r:id="rId51"/>
      <p:boldItalic r:id="rId52"/>
    </p:embeddedFont>
    <p:embeddedFont>
      <p:font typeface="Oswald" panose="00000500000000000000" pitchFamily="2" charset="0"/>
      <p:regular r:id="rId53"/>
      <p:bold r:id="rId54"/>
    </p:embeddedFont>
    <p:embeddedFont>
      <p:font typeface="Oswald ExtraLight" panose="00000300000000000000" pitchFamily="2" charset="0"/>
      <p:regular r:id="rId55"/>
      <p:bold r:id="rId56"/>
    </p:embeddedFont>
    <p:embeddedFont>
      <p:font typeface="Poppins" panose="00000500000000000000" pitchFamily="2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70CEB2-0B95-4314-9F23-BD3625BE517C}">
  <a:tblStyle styleId="{2A70CEB2-0B95-4314-9F23-BD3625BE51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24E9B7D-68EF-425B-9C5F-F9FB8B7825A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506F35A-A5C4-41D3-B9DB-10FE4979A0B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601"/>
        <p:guide orient="horz" pos="7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e91f73e2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e91f73e2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0d7ae03d4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0d7ae03d4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e91f73e2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0e91f73e2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e84aac6d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e84aac6d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0e413425e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0e413425e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82dca1af1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82dca1af1_3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e91f73e2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0e91f73e2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0d7ae03d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0d7ae03d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e91f73e27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e91f73e27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1f73129a4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61f73129a4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e91f73e27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e91f73e27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82dca1af1_3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682dca1af1_3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0d7ae03d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0d7ae03d4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e91f73e27_0_1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e91f73e27_0_1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0e91f73e27_0_1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0e91f73e27_0_1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e4f297b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e4f297b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e91f73e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0e91f73e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0e91f73e27_0_1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0e91f73e27_0_1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69647272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69647272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e998051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e998051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82dca1af1_3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682dca1af1_3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82dca1af1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682dca1af1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82dca1a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682dca1af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682dca1af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682dca1af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82dca1af1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82dca1af1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82dca1af1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82dca1af1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82dca1af1_3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682dca1af1_3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82dca1af1_3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682dca1af1_3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82dca1af1_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82dca1af1_3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82dca1af1_3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682dca1af1_3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682dca1af1_3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682dca1af1_3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82dca1af1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682dca1af1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82dca1af1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682dca1af1_3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684cac431c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684cac431c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84cac431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684cac431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84cac431c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684cac431c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82dca1af1_3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682dca1af1_3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682dca1af1_3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682dca1af1_3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82dca1af1_3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682dca1af1_3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82dca1af1_3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682dca1af1_3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682dca1af1_3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682dca1af1_3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5540775" y="1840338"/>
            <a:ext cx="2421900" cy="106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768453" y="1840338"/>
            <a:ext cx="5961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514500" y="3055663"/>
            <a:ext cx="24219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 rot="5400000">
            <a:off x="976911" y="3061602"/>
            <a:ext cx="1683966" cy="3637785"/>
            <a:chOff x="7350442" y="2608992"/>
            <a:chExt cx="777239" cy="1673160"/>
          </a:xfrm>
        </p:grpSpPr>
        <p:sp>
          <p:nvSpPr>
            <p:cNvPr id="25" name="Google Shape;25;p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 rot="5400000" flipH="1">
            <a:off x="6568632" y="-1639800"/>
            <a:ext cx="1684044" cy="3637785"/>
            <a:chOff x="7350442" y="2608992"/>
            <a:chExt cx="777239" cy="1673160"/>
          </a:xfrm>
        </p:grpSpPr>
        <p:sp>
          <p:nvSpPr>
            <p:cNvPr id="34" name="Google Shape;34;p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1786775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178662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497085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321350" y="1039750"/>
            <a:ext cx="3866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1321350" y="1984800"/>
            <a:ext cx="3866400" cy="23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⏣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 flipH="1">
            <a:off x="-1145294" y="-39521"/>
            <a:ext cx="2029371" cy="4383847"/>
            <a:chOff x="7350442" y="2608992"/>
            <a:chExt cx="777239" cy="1673160"/>
          </a:xfrm>
        </p:grpSpPr>
        <p:sp>
          <p:nvSpPr>
            <p:cNvPr id="57" name="Google Shape;57;p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2916875" y="1499525"/>
            <a:ext cx="33579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2916875" y="2308375"/>
            <a:ext cx="3357900" cy="1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1260875" y="3226350"/>
            <a:ext cx="3792300" cy="10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36500"/>
            <a:ext cx="5226000" cy="13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4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6098700" y="3330525"/>
            <a:ext cx="23319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75" name="Google Shape;75;p11"/>
          <p:cNvGrpSpPr/>
          <p:nvPr/>
        </p:nvGrpSpPr>
        <p:grpSpPr>
          <a:xfrm rot="5400000">
            <a:off x="6345490" y="-889971"/>
            <a:ext cx="1764332" cy="3811124"/>
            <a:chOff x="7350442" y="2608992"/>
            <a:chExt cx="777239" cy="1673160"/>
          </a:xfrm>
        </p:grpSpPr>
        <p:sp>
          <p:nvSpPr>
            <p:cNvPr id="76" name="Google Shape;76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11"/>
          <p:cNvGrpSpPr/>
          <p:nvPr/>
        </p:nvGrpSpPr>
        <p:grpSpPr>
          <a:xfrm rot="-5400000">
            <a:off x="1007843" y="2135053"/>
            <a:ext cx="1737362" cy="3752898"/>
            <a:chOff x="7350442" y="2608992"/>
            <a:chExt cx="777239" cy="1673160"/>
          </a:xfrm>
        </p:grpSpPr>
        <p:sp>
          <p:nvSpPr>
            <p:cNvPr id="85" name="Google Shape;85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1"/>
          <p:cNvGrpSpPr/>
          <p:nvPr/>
        </p:nvGrpSpPr>
        <p:grpSpPr>
          <a:xfrm>
            <a:off x="752475" y="981075"/>
            <a:ext cx="1200150" cy="114300"/>
            <a:chOff x="752475" y="981075"/>
            <a:chExt cx="1200150" cy="114300"/>
          </a:xfrm>
        </p:grpSpPr>
        <p:sp>
          <p:nvSpPr>
            <p:cNvPr id="94" name="Google Shape;94;p11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695771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1849288" y="2105212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4" hasCustomPrompt="1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5"/>
          </p:nvPr>
        </p:nvSpPr>
        <p:spPr>
          <a:xfrm>
            <a:off x="6111838" y="2110350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6"/>
          </p:nvPr>
        </p:nvSpPr>
        <p:spPr>
          <a:xfrm>
            <a:off x="1853038" y="3419068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771" y="3448775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1853038" y="3800225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9"/>
          </p:nvPr>
        </p:nvSpPr>
        <p:spPr>
          <a:xfrm>
            <a:off x="6111838" y="3421989"/>
            <a:ext cx="2336400" cy="36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3" hasCustomPrompt="1"/>
          </p:nvPr>
        </p:nvSpPr>
        <p:spPr>
          <a:xfrm>
            <a:off x="4961874" y="3453772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6111838" y="3797480"/>
            <a:ext cx="2336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5381275" y="3173650"/>
            <a:ext cx="2887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2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2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2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4720925" y="539500"/>
            <a:ext cx="31914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grpSp>
        <p:nvGrpSpPr>
          <p:cNvPr id="127" name="Google Shape;127;p18"/>
          <p:cNvGrpSpPr/>
          <p:nvPr/>
        </p:nvGrpSpPr>
        <p:grpSpPr>
          <a:xfrm rot="-5399868" flipH="1">
            <a:off x="480934" y="-830736"/>
            <a:ext cx="2029371" cy="4383847"/>
            <a:chOff x="7350442" y="2608992"/>
            <a:chExt cx="777239" cy="1673160"/>
          </a:xfrm>
        </p:grpSpPr>
        <p:sp>
          <p:nvSpPr>
            <p:cNvPr id="128" name="Google Shape;128;p18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BLANK_1_1_1_2_1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972450" y="539500"/>
            <a:ext cx="71991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584063" y="1543600"/>
            <a:ext cx="23373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1"/>
          </p:nvPr>
        </p:nvSpPr>
        <p:spPr>
          <a:xfrm>
            <a:off x="1584063" y="1938600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 idx="2"/>
          </p:nvPr>
        </p:nvSpPr>
        <p:spPr>
          <a:xfrm>
            <a:off x="5704788" y="1543600"/>
            <a:ext cx="23409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3"/>
          </p:nvPr>
        </p:nvSpPr>
        <p:spPr>
          <a:xfrm>
            <a:off x="5704788" y="1938600"/>
            <a:ext cx="23409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 idx="4"/>
          </p:nvPr>
        </p:nvSpPr>
        <p:spPr>
          <a:xfrm>
            <a:off x="3644425" y="3290400"/>
            <a:ext cx="2337300" cy="393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5"/>
          </p:nvPr>
        </p:nvSpPr>
        <p:spPr>
          <a:xfrm>
            <a:off x="3644425" y="3682009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1495425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1495425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title" idx="2"/>
          </p:nvPr>
        </p:nvSpPr>
        <p:spPr>
          <a:xfrm>
            <a:off x="4211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3"/>
          </p:nvPr>
        </p:nvSpPr>
        <p:spPr>
          <a:xfrm>
            <a:off x="4211550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 idx="4"/>
          </p:nvPr>
        </p:nvSpPr>
        <p:spPr>
          <a:xfrm>
            <a:off x="1495425" y="3329975"/>
            <a:ext cx="1322100" cy="36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5"/>
          </p:nvPr>
        </p:nvSpPr>
        <p:spPr>
          <a:xfrm>
            <a:off x="1495425" y="3733325"/>
            <a:ext cx="13221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 idx="6"/>
          </p:nvPr>
        </p:nvSpPr>
        <p:spPr>
          <a:xfrm>
            <a:off x="4211550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7"/>
          </p:nvPr>
        </p:nvSpPr>
        <p:spPr>
          <a:xfrm>
            <a:off x="4211550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title" idx="8"/>
          </p:nvPr>
        </p:nvSpPr>
        <p:spPr>
          <a:xfrm>
            <a:off x="6927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9"/>
          </p:nvPr>
        </p:nvSpPr>
        <p:spPr>
          <a:xfrm>
            <a:off x="6927675" y="2003838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title" idx="13"/>
          </p:nvPr>
        </p:nvSpPr>
        <p:spPr>
          <a:xfrm>
            <a:off x="6927675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4"/>
          </p:nvPr>
        </p:nvSpPr>
        <p:spPr>
          <a:xfrm>
            <a:off x="6927675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 hasCustomPrompt="1"/>
          </p:nvPr>
        </p:nvSpPr>
        <p:spPr>
          <a:xfrm>
            <a:off x="713225" y="730825"/>
            <a:ext cx="4165800" cy="82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1"/>
          </p:nvPr>
        </p:nvSpPr>
        <p:spPr>
          <a:xfrm>
            <a:off x="713225" y="1629825"/>
            <a:ext cx="4165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title" idx="2" hasCustomPrompt="1"/>
          </p:nvPr>
        </p:nvSpPr>
        <p:spPr>
          <a:xfrm>
            <a:off x="4265050" y="2909950"/>
            <a:ext cx="4165800" cy="8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3"/>
          </p:nvPr>
        </p:nvSpPr>
        <p:spPr>
          <a:xfrm>
            <a:off x="4265050" y="3817475"/>
            <a:ext cx="41658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5" name="Google Shape;165;p22"/>
          <p:cNvGrpSpPr/>
          <p:nvPr/>
        </p:nvGrpSpPr>
        <p:grpSpPr>
          <a:xfrm rot="5400000">
            <a:off x="6327004" y="-594849"/>
            <a:ext cx="1955378" cy="4224060"/>
            <a:chOff x="7350442" y="2608992"/>
            <a:chExt cx="777239" cy="1673160"/>
          </a:xfrm>
        </p:grpSpPr>
        <p:sp>
          <p:nvSpPr>
            <p:cNvPr id="166" name="Google Shape;166;p2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22"/>
          <p:cNvGrpSpPr/>
          <p:nvPr/>
        </p:nvGrpSpPr>
        <p:grpSpPr>
          <a:xfrm rot="-5400000" flipH="1">
            <a:off x="696504" y="1651201"/>
            <a:ext cx="1955378" cy="4224060"/>
            <a:chOff x="7350442" y="2608992"/>
            <a:chExt cx="777239" cy="1673160"/>
          </a:xfrm>
        </p:grpSpPr>
        <p:sp>
          <p:nvSpPr>
            <p:cNvPr id="175" name="Google Shape;175;p2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4695775" y="4494275"/>
            <a:ext cx="1200150" cy="114300"/>
            <a:chOff x="752475" y="981075"/>
            <a:chExt cx="1200150" cy="114300"/>
          </a:xfrm>
        </p:grpSpPr>
        <p:sp>
          <p:nvSpPr>
            <p:cNvPr id="184" name="Google Shape;184;p22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7132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2"/>
          </p:nvPr>
        </p:nvSpPr>
        <p:spPr>
          <a:xfrm>
            <a:off x="50296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ctrTitle"/>
          </p:nvPr>
        </p:nvSpPr>
        <p:spPr>
          <a:xfrm>
            <a:off x="2429950" y="950150"/>
            <a:ext cx="4284000" cy="75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subTitle" idx="1"/>
          </p:nvPr>
        </p:nvSpPr>
        <p:spPr>
          <a:xfrm>
            <a:off x="2425075" y="1828300"/>
            <a:ext cx="42939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98" name="Google Shape;198;p24"/>
          <p:cNvGrpSpPr/>
          <p:nvPr/>
        </p:nvGrpSpPr>
        <p:grpSpPr>
          <a:xfrm rot="10800000" flipH="1">
            <a:off x="7172094" y="843104"/>
            <a:ext cx="2029371" cy="4383847"/>
            <a:chOff x="7350442" y="2608992"/>
            <a:chExt cx="777239" cy="1673160"/>
          </a:xfrm>
        </p:grpSpPr>
        <p:sp>
          <p:nvSpPr>
            <p:cNvPr id="199" name="Google Shape;199;p2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4"/>
          <p:cNvGrpSpPr/>
          <p:nvPr/>
        </p:nvGrpSpPr>
        <p:grpSpPr>
          <a:xfrm flipH="1">
            <a:off x="-57431" y="4"/>
            <a:ext cx="2029371" cy="4383847"/>
            <a:chOff x="7350442" y="2608992"/>
            <a:chExt cx="777239" cy="1673160"/>
          </a:xfrm>
        </p:grpSpPr>
        <p:sp>
          <p:nvSpPr>
            <p:cNvPr id="208" name="Google Shape;208;p2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4"/>
          <p:cNvSpPr txBox="1"/>
          <p:nvPr/>
        </p:nvSpPr>
        <p:spPr>
          <a:xfrm>
            <a:off x="2478750" y="3448025"/>
            <a:ext cx="41865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135225" y="106550"/>
            <a:ext cx="3654600" cy="983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 n°2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Ventilation ERP </a:t>
            </a:r>
            <a:endParaRPr/>
          </a:p>
        </p:txBody>
      </p:sp>
      <p:pic>
        <p:nvPicPr>
          <p:cNvPr id="226" name="Google Shape;2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215" y="853200"/>
            <a:ext cx="2421360" cy="34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625" y="160250"/>
            <a:ext cx="353377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1865138" y="1546945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Présentation</a:t>
            </a:r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title" idx="2"/>
          </p:nvPr>
        </p:nvSpPr>
        <p:spPr>
          <a:xfrm>
            <a:off x="719996" y="1360225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title" idx="3"/>
          </p:nvPr>
        </p:nvSpPr>
        <p:spPr>
          <a:xfrm>
            <a:off x="6111838" y="1546949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</a:t>
            </a:r>
            <a:endParaRPr/>
          </a:p>
        </p:txBody>
      </p:sp>
      <p:sp>
        <p:nvSpPr>
          <p:cNvPr id="235" name="Google Shape;235;p28"/>
          <p:cNvSpPr txBox="1">
            <a:spLocks noGrp="1"/>
          </p:cNvSpPr>
          <p:nvPr>
            <p:ph type="title" idx="4"/>
          </p:nvPr>
        </p:nvSpPr>
        <p:spPr>
          <a:xfrm>
            <a:off x="4961874" y="1324375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6" name="Google Shape;236;p28"/>
          <p:cNvSpPr txBox="1">
            <a:spLocks noGrp="1"/>
          </p:cNvSpPr>
          <p:nvPr>
            <p:ph type="title" idx="6"/>
          </p:nvPr>
        </p:nvSpPr>
        <p:spPr>
          <a:xfrm>
            <a:off x="1865150" y="2664950"/>
            <a:ext cx="2678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Planification et avancée</a:t>
            </a:r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title" idx="7"/>
          </p:nvPr>
        </p:nvSpPr>
        <p:spPr>
          <a:xfrm>
            <a:off x="719996" y="2445500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title" idx="9"/>
          </p:nvPr>
        </p:nvSpPr>
        <p:spPr>
          <a:xfrm>
            <a:off x="6099713" y="2667189"/>
            <a:ext cx="23364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title" idx="13"/>
          </p:nvPr>
        </p:nvSpPr>
        <p:spPr>
          <a:xfrm>
            <a:off x="4961874" y="2446522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 :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241" name="Google Shape;241;p28"/>
          <p:cNvCxnSpPr/>
          <p:nvPr/>
        </p:nvCxnSpPr>
        <p:spPr>
          <a:xfrm>
            <a:off x="1635713" y="1331525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242" name="Google Shape;242;p28"/>
          <p:cNvCxnSpPr/>
          <p:nvPr/>
        </p:nvCxnSpPr>
        <p:spPr>
          <a:xfrm>
            <a:off x="5877638" y="1297812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43" name="Google Shape;243;p28"/>
          <p:cNvCxnSpPr/>
          <p:nvPr/>
        </p:nvCxnSpPr>
        <p:spPr>
          <a:xfrm>
            <a:off x="1635713" y="2420846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44" name="Google Shape;244;p28"/>
          <p:cNvCxnSpPr/>
          <p:nvPr/>
        </p:nvCxnSpPr>
        <p:spPr>
          <a:xfrm>
            <a:off x="1635713" y="1333662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45" name="Google Shape;245;p28"/>
          <p:cNvCxnSpPr/>
          <p:nvPr/>
        </p:nvCxnSpPr>
        <p:spPr>
          <a:xfrm>
            <a:off x="5877638" y="2416871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grpSp>
        <p:nvGrpSpPr>
          <p:cNvPr id="246" name="Google Shape;246;p28"/>
          <p:cNvGrpSpPr/>
          <p:nvPr/>
        </p:nvGrpSpPr>
        <p:grpSpPr>
          <a:xfrm rot="-5400000" flipH="1">
            <a:off x="681702" y="-681704"/>
            <a:ext cx="1182802" cy="2546215"/>
            <a:chOff x="7350442" y="2608992"/>
            <a:chExt cx="777239" cy="1673160"/>
          </a:xfrm>
        </p:grpSpPr>
        <p:sp>
          <p:nvSpPr>
            <p:cNvPr id="247" name="Google Shape;247;p28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28"/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256" name="Google Shape;256;p28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8"/>
          <p:cNvSpPr txBox="1">
            <a:spLocks noGrp="1"/>
          </p:cNvSpPr>
          <p:nvPr>
            <p:ph type="title" idx="6"/>
          </p:nvPr>
        </p:nvSpPr>
        <p:spPr>
          <a:xfrm>
            <a:off x="1865138" y="3782943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Développement</a:t>
            </a:r>
            <a:endParaRPr/>
          </a:p>
        </p:txBody>
      </p:sp>
      <p:sp>
        <p:nvSpPr>
          <p:cNvPr id="265" name="Google Shape;265;p28"/>
          <p:cNvSpPr txBox="1">
            <a:spLocks noGrp="1"/>
          </p:cNvSpPr>
          <p:nvPr>
            <p:ph type="title" idx="7"/>
          </p:nvPr>
        </p:nvSpPr>
        <p:spPr>
          <a:xfrm>
            <a:off x="707871" y="3599425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66" name="Google Shape;266;p28"/>
          <p:cNvSpPr txBox="1">
            <a:spLocks noGrp="1"/>
          </p:cNvSpPr>
          <p:nvPr>
            <p:ph type="title" idx="9"/>
          </p:nvPr>
        </p:nvSpPr>
        <p:spPr>
          <a:xfrm>
            <a:off x="6099727" y="3826175"/>
            <a:ext cx="28011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Finalité et améliorations</a:t>
            </a:r>
            <a:endParaRPr/>
          </a:p>
        </p:txBody>
      </p:sp>
      <p:sp>
        <p:nvSpPr>
          <p:cNvPr id="267" name="Google Shape;267;p28"/>
          <p:cNvSpPr txBox="1">
            <a:spLocks noGrp="1"/>
          </p:cNvSpPr>
          <p:nvPr>
            <p:ph type="title" idx="13"/>
          </p:nvPr>
        </p:nvSpPr>
        <p:spPr>
          <a:xfrm>
            <a:off x="4949749" y="3600447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cxnSp>
        <p:nvCxnSpPr>
          <p:cNvPr id="268" name="Google Shape;268;p28"/>
          <p:cNvCxnSpPr/>
          <p:nvPr/>
        </p:nvCxnSpPr>
        <p:spPr>
          <a:xfrm>
            <a:off x="1623588" y="3574771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69" name="Google Shape;269;p28"/>
          <p:cNvCxnSpPr/>
          <p:nvPr/>
        </p:nvCxnSpPr>
        <p:spPr>
          <a:xfrm>
            <a:off x="5865513" y="3570796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2031061" y="1345050"/>
            <a:ext cx="35238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Présentation</a:t>
            </a:r>
            <a:endParaRPr sz="60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01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Système et matériel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82" name="Google Shape;282;p30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83" name="Google Shape;2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7896"/>
            <a:ext cx="2330047" cy="310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000" y="1504275"/>
            <a:ext cx="6274425" cy="21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31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0" name="Google Shape;290;p31"/>
          <p:cNvSpPr txBox="1"/>
          <p:nvPr/>
        </p:nvSpPr>
        <p:spPr>
          <a:xfrm>
            <a:off x="2973000" y="481575"/>
            <a:ext cx="6171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Langages de programmation : 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 b="1">
                <a:solidFill>
                  <a:srgbClr val="00C3B1"/>
                </a:solidFill>
              </a:rPr>
              <a:t>C++/WxWidgets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Kotlin</a:t>
            </a:r>
            <a:endParaRPr>
              <a:solidFill>
                <a:srgbClr val="00C3B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C3B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OS rencontrés : 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Linux / Android / Tasmota</a:t>
            </a:r>
            <a:endParaRPr>
              <a:solidFill>
                <a:srgbClr val="00C3B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C3B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Supports Physiques : 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PC / </a:t>
            </a:r>
            <a:r>
              <a:rPr lang="en" b="1">
                <a:solidFill>
                  <a:srgbClr val="00C3B1"/>
                </a:solidFill>
              </a:rPr>
              <a:t>Raspberry Pi</a:t>
            </a:r>
            <a:r>
              <a:rPr lang="en">
                <a:solidFill>
                  <a:srgbClr val="00C3B1"/>
                </a:solidFill>
              </a:rPr>
              <a:t> / Tablette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 b="1">
                <a:solidFill>
                  <a:srgbClr val="00C3B1"/>
                </a:solidFill>
              </a:rPr>
              <a:t>Interface 0-10V (sortie) convertisseur PWM –&gt; 0-10V</a:t>
            </a:r>
            <a:endParaRPr b="1"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 b="1">
                <a:solidFill>
                  <a:srgbClr val="00C3B1"/>
                </a:solidFill>
              </a:rPr>
              <a:t>Interface 4-20mA (entrée) convertisseur 4-20mA –&gt; 0-5V</a:t>
            </a:r>
            <a:endParaRPr b="1"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 b="1">
                <a:solidFill>
                  <a:srgbClr val="00C3B1"/>
                </a:solidFill>
              </a:rPr>
              <a:t>Interface Analogique Numérique convertisseur analogique -&gt; I2C</a:t>
            </a:r>
            <a:endParaRPr b="1"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Boitier (PRE, Habilitation) compatible rail normalisé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Module de Mesure + Capt Temp &amp; Hygro sonoff TH16</a:t>
            </a:r>
            <a:endParaRPr>
              <a:solidFill>
                <a:srgbClr val="00C3B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C3B1"/>
              </a:buClr>
              <a:buSzPts val="1400"/>
              <a:buChar char="-"/>
            </a:pPr>
            <a:r>
              <a:rPr lang="en">
                <a:solidFill>
                  <a:srgbClr val="00C3B1"/>
                </a:solidFill>
              </a:rPr>
              <a:t>Capteur CO2 MH-Z19</a:t>
            </a:r>
            <a:endParaRPr>
              <a:solidFill>
                <a:srgbClr val="00C3B1"/>
              </a:solidFill>
            </a:endParaRPr>
          </a:p>
        </p:txBody>
      </p:sp>
      <p:pic>
        <p:nvPicPr>
          <p:cNvPr id="291" name="Google Shape;291;p31" title="IMG_20250526_1139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125" y="2853921"/>
            <a:ext cx="1396199" cy="126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1" title="10000018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400" y="1796012"/>
            <a:ext cx="1289650" cy="13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400" y="553714"/>
            <a:ext cx="1236375" cy="1171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" name="Google Shape;298;p32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99" name="Google Shape;2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83" y="688075"/>
            <a:ext cx="6533444" cy="357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2031061" y="1345050"/>
            <a:ext cx="35238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Analyse</a:t>
            </a:r>
            <a:endParaRPr sz="60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306" name="Google Shape;306;p33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02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/>
          <p:nvPr/>
        </p:nvSpPr>
        <p:spPr>
          <a:xfrm>
            <a:off x="531713" y="873725"/>
            <a:ext cx="1608600" cy="7581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4"/>
          <p:cNvSpPr txBox="1"/>
          <p:nvPr/>
        </p:nvSpPr>
        <p:spPr>
          <a:xfrm>
            <a:off x="3072000" y="16572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Missions globales</a:t>
            </a:r>
            <a:endParaRPr sz="34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3" name="Google Shape;313;p34"/>
          <p:cNvSpPr txBox="1"/>
          <p:nvPr/>
        </p:nvSpPr>
        <p:spPr>
          <a:xfrm>
            <a:off x="787913" y="1052675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Etudiant 1 :</a:t>
            </a:r>
            <a:endParaRPr/>
          </a:p>
        </p:txBody>
      </p:sp>
      <p:sp>
        <p:nvSpPr>
          <p:cNvPr id="314" name="Google Shape;314;p34"/>
          <p:cNvSpPr/>
          <p:nvPr/>
        </p:nvSpPr>
        <p:spPr>
          <a:xfrm>
            <a:off x="1018313" y="1549850"/>
            <a:ext cx="635400" cy="1434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4"/>
          <p:cNvSpPr/>
          <p:nvPr/>
        </p:nvSpPr>
        <p:spPr>
          <a:xfrm>
            <a:off x="2671838" y="873725"/>
            <a:ext cx="1608600" cy="75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4"/>
          <p:cNvSpPr txBox="1"/>
          <p:nvPr/>
        </p:nvSpPr>
        <p:spPr>
          <a:xfrm>
            <a:off x="2928038" y="1052675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Etudiant 2 :</a:t>
            </a: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3158438" y="1549850"/>
            <a:ext cx="635400" cy="1434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"/>
          <p:cNvSpPr/>
          <p:nvPr/>
        </p:nvSpPr>
        <p:spPr>
          <a:xfrm>
            <a:off x="4837763" y="873725"/>
            <a:ext cx="1608600" cy="7581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4"/>
          <p:cNvSpPr txBox="1"/>
          <p:nvPr/>
        </p:nvSpPr>
        <p:spPr>
          <a:xfrm>
            <a:off x="5093963" y="1052675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Etudiant 3 :</a:t>
            </a:r>
            <a:endParaRPr/>
          </a:p>
        </p:txBody>
      </p:sp>
      <p:sp>
        <p:nvSpPr>
          <p:cNvPr id="320" name="Google Shape;320;p34"/>
          <p:cNvSpPr/>
          <p:nvPr/>
        </p:nvSpPr>
        <p:spPr>
          <a:xfrm>
            <a:off x="5324363" y="1549850"/>
            <a:ext cx="635400" cy="1434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4"/>
          <p:cNvSpPr/>
          <p:nvPr/>
        </p:nvSpPr>
        <p:spPr>
          <a:xfrm>
            <a:off x="7003688" y="873725"/>
            <a:ext cx="1608600" cy="7581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4"/>
          <p:cNvSpPr txBox="1"/>
          <p:nvPr/>
        </p:nvSpPr>
        <p:spPr>
          <a:xfrm>
            <a:off x="7259888" y="1052675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Etudiant 4 :</a:t>
            </a:r>
            <a:endParaRPr/>
          </a:p>
        </p:txBody>
      </p:sp>
      <p:sp>
        <p:nvSpPr>
          <p:cNvPr id="323" name="Google Shape;323;p34"/>
          <p:cNvSpPr/>
          <p:nvPr/>
        </p:nvSpPr>
        <p:spPr>
          <a:xfrm>
            <a:off x="7490288" y="1549850"/>
            <a:ext cx="635400" cy="1434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4"/>
          <p:cNvSpPr/>
          <p:nvPr/>
        </p:nvSpPr>
        <p:spPr>
          <a:xfrm>
            <a:off x="314975" y="3081425"/>
            <a:ext cx="2042100" cy="91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4621025" y="3081425"/>
            <a:ext cx="2042100" cy="91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4"/>
          <p:cNvSpPr/>
          <p:nvPr/>
        </p:nvSpPr>
        <p:spPr>
          <a:xfrm>
            <a:off x="2468000" y="3081425"/>
            <a:ext cx="2042100" cy="929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4"/>
          <p:cNvSpPr/>
          <p:nvPr/>
        </p:nvSpPr>
        <p:spPr>
          <a:xfrm>
            <a:off x="6786950" y="3081425"/>
            <a:ext cx="2042100" cy="929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28" name="Google Shape;328;p34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9" name="Google Shape;329;p34"/>
          <p:cNvSpPr txBox="1"/>
          <p:nvPr/>
        </p:nvSpPr>
        <p:spPr>
          <a:xfrm>
            <a:off x="6783725" y="3081413"/>
            <a:ext cx="204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Application de supervision </a:t>
            </a:r>
            <a:endParaRPr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- Tablette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4627475" y="3081425"/>
            <a:ext cx="204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Application de supervision </a:t>
            </a:r>
            <a:endParaRPr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- Poste Fixe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1" name="Google Shape;331;p34"/>
          <p:cNvSpPr txBox="1"/>
          <p:nvPr/>
        </p:nvSpPr>
        <p:spPr>
          <a:xfrm>
            <a:off x="2471225" y="3346175"/>
            <a:ext cx="20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Module Ventilation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314975" y="3230813"/>
            <a:ext cx="204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Module de mesure de la Qualité de l'Air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5"/>
          <p:cNvGrpSpPr/>
          <p:nvPr/>
        </p:nvGrpSpPr>
        <p:grpSpPr>
          <a:xfrm rot="-5400000">
            <a:off x="681702" y="-823119"/>
            <a:ext cx="1182802" cy="2546215"/>
            <a:chOff x="7350442" y="2608992"/>
            <a:chExt cx="777239" cy="1673160"/>
          </a:xfrm>
        </p:grpSpPr>
        <p:sp>
          <p:nvSpPr>
            <p:cNvPr id="338" name="Google Shape;338;p35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35"/>
          <p:cNvGrpSpPr/>
          <p:nvPr/>
        </p:nvGrpSpPr>
        <p:grpSpPr>
          <a:xfrm rot="5400000" flipH="1">
            <a:off x="7363145" y="-827538"/>
            <a:ext cx="1182802" cy="2555083"/>
            <a:chOff x="7350442" y="2608992"/>
            <a:chExt cx="777239" cy="1673160"/>
          </a:xfrm>
        </p:grpSpPr>
        <p:sp>
          <p:nvSpPr>
            <p:cNvPr id="347" name="Google Shape;347;p35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55" name="Google Shape;355;p35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6" name="Google Shape;356;p35"/>
          <p:cNvSpPr txBox="1"/>
          <p:nvPr/>
        </p:nvSpPr>
        <p:spPr>
          <a:xfrm>
            <a:off x="38" y="3013588"/>
            <a:ext cx="254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Actionner la ventilation</a:t>
            </a:r>
            <a:endParaRPr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386250" y="3013600"/>
            <a:ext cx="23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Mesurer le débit d’air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6096000" y="3013600"/>
            <a:ext cx="305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Créer les tables nécessaires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2773800" y="96000"/>
            <a:ext cx="359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Missions personnelles</a:t>
            </a:r>
            <a:endParaRPr sz="34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0" name="Google Shape;3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74" y="1698799"/>
            <a:ext cx="1357675" cy="13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0150" y="1577937"/>
            <a:ext cx="1766900" cy="13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1438" y="1375352"/>
            <a:ext cx="1681125" cy="16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/>
          <p:nvPr/>
        </p:nvSpPr>
        <p:spPr>
          <a:xfrm>
            <a:off x="1169250" y="174175"/>
            <a:ext cx="6805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Diagrammes de déploiement secondaires</a:t>
            </a:r>
            <a:endParaRPr sz="34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8" name="Google Shape;368;p36" title="Actionner la venti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2425"/>
            <a:ext cx="8839199" cy="208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425" y="1961075"/>
            <a:ext cx="1046350" cy="99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/>
          <p:cNvSpPr txBox="1"/>
          <p:nvPr/>
        </p:nvSpPr>
        <p:spPr>
          <a:xfrm>
            <a:off x="152400" y="1035925"/>
            <a:ext cx="4264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Actionner la ventilation</a:t>
            </a:r>
            <a:endParaRPr sz="2900"/>
          </a:p>
        </p:txBody>
      </p:sp>
      <p:graphicFrame>
        <p:nvGraphicFramePr>
          <p:cNvPr id="371" name="Google Shape;371;p36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7" title="Diagramme de déploiement Mesurer le débit d'ai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3925"/>
            <a:ext cx="8839199" cy="295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 title="10000018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50" y="1909912"/>
            <a:ext cx="1289650" cy="13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 title="IMG_20250526_113905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5350" y="1878659"/>
            <a:ext cx="1396199" cy="126324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7"/>
          <p:cNvSpPr txBox="1"/>
          <p:nvPr/>
        </p:nvSpPr>
        <p:spPr>
          <a:xfrm>
            <a:off x="152400" y="447425"/>
            <a:ext cx="5227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Mesurer le débit d’air</a:t>
            </a:r>
            <a:endParaRPr sz="2900">
              <a:solidFill>
                <a:schemeClr val="lt2"/>
              </a:solidFill>
            </a:endParaRPr>
          </a:p>
        </p:txBody>
      </p:sp>
      <p:graphicFrame>
        <p:nvGraphicFramePr>
          <p:cNvPr id="380" name="Google Shape;380;p37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38"/>
          <p:cNvGrpSpPr/>
          <p:nvPr/>
        </p:nvGrpSpPr>
        <p:grpSpPr>
          <a:xfrm rot="-5400000" flipH="1">
            <a:off x="1390763" y="-1182784"/>
            <a:ext cx="959680" cy="3741186"/>
            <a:chOff x="7557897" y="2608992"/>
            <a:chExt cx="429195" cy="1673160"/>
          </a:xfrm>
        </p:grpSpPr>
        <p:sp>
          <p:nvSpPr>
            <p:cNvPr id="386" name="Google Shape;386;p38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38"/>
          <p:cNvSpPr txBox="1">
            <a:spLocks noGrp="1"/>
          </p:cNvSpPr>
          <p:nvPr>
            <p:ph type="title"/>
          </p:nvPr>
        </p:nvSpPr>
        <p:spPr>
          <a:xfrm>
            <a:off x="720000" y="399813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Formules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390" name="Google Shape;390;p38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1" name="Google Shape;391;p38"/>
          <p:cNvSpPr txBox="1"/>
          <p:nvPr/>
        </p:nvSpPr>
        <p:spPr>
          <a:xfrm>
            <a:off x="1188300" y="1902150"/>
            <a:ext cx="6767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Rapport cyclique (en %)</a:t>
            </a:r>
            <a:r>
              <a:rPr lang="en" sz="15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= Période du signal haut / Période totale</a:t>
            </a:r>
            <a:endParaRPr sz="15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Pwm -&gt; V</a:t>
            </a:r>
            <a:r>
              <a:rPr lang="en" sz="15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= PWM (en %) / 10</a:t>
            </a:r>
            <a:endParaRPr sz="15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Débit (en m3/s)</a:t>
            </a:r>
            <a:r>
              <a:rPr lang="en" sz="15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= (tension / 5) * 0,08</a:t>
            </a:r>
            <a:endParaRPr sz="15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4526725" y="3197125"/>
            <a:ext cx="219600" cy="623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900FF"/>
          </a:solidFill>
          <a:ln w="9525" cap="flat" cmpd="sng">
            <a:solidFill>
              <a:srgbClr val="0C0A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4029075" y="376216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debit max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title"/>
          </p:nvPr>
        </p:nvSpPr>
        <p:spPr>
          <a:xfrm>
            <a:off x="2031050" y="1345050"/>
            <a:ext cx="57717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Planification et avancée</a:t>
            </a:r>
            <a:endParaRPr sz="60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400" name="Google Shape;400;p39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03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" name="Google Shape;405;p40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6" name="Google Shape;406;p40" title="Diagramme de cas d'utilisation.png"/>
          <p:cNvPicPr preferRelativeResize="0"/>
          <p:nvPr/>
        </p:nvPicPr>
        <p:blipFill rotWithShape="1">
          <a:blip r:embed="rId3">
            <a:alphaModFix/>
          </a:blip>
          <a:srcRect l="5044" t="1888" r="4054" b="19104"/>
          <a:stretch/>
        </p:blipFill>
        <p:spPr>
          <a:xfrm>
            <a:off x="1267663" y="449100"/>
            <a:ext cx="6608676" cy="40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0"/>
          <p:cNvSpPr txBox="1"/>
          <p:nvPr/>
        </p:nvSpPr>
        <p:spPr>
          <a:xfrm>
            <a:off x="2603688" y="-105000"/>
            <a:ext cx="393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Diagramme des cas d’utilisation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>
            <a:spLocks noGrp="1"/>
          </p:cNvSpPr>
          <p:nvPr>
            <p:ph type="title"/>
          </p:nvPr>
        </p:nvSpPr>
        <p:spPr>
          <a:xfrm>
            <a:off x="720000" y="19405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Diagrammes d’activité</a:t>
            </a:r>
            <a:endParaRPr sz="2400"/>
          </a:p>
        </p:txBody>
      </p:sp>
      <p:sp>
        <p:nvSpPr>
          <p:cNvPr id="413" name="Google Shape;413;p41"/>
          <p:cNvSpPr/>
          <p:nvPr/>
        </p:nvSpPr>
        <p:spPr>
          <a:xfrm>
            <a:off x="10025900" y="2057700"/>
            <a:ext cx="1431600" cy="412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71450" dist="19050" dir="5400000" algn="bl" rotWithShape="0">
              <a:schemeClr val="accent1">
                <a:alpha val="6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Venus</a:t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4" name="Google Shape;4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70688"/>
            <a:ext cx="2671265" cy="43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14" y="47125"/>
            <a:ext cx="2222837" cy="44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6" name="Google Shape;416;p41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2" title="bdd.png"/>
          <p:cNvPicPr preferRelativeResize="0"/>
          <p:nvPr/>
        </p:nvPicPr>
        <p:blipFill rotWithShape="1">
          <a:blip r:embed="rId3">
            <a:alphaModFix/>
          </a:blip>
          <a:srcRect t="3344"/>
          <a:stretch/>
        </p:blipFill>
        <p:spPr>
          <a:xfrm>
            <a:off x="553663" y="342200"/>
            <a:ext cx="8036674" cy="41438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2" name="Google Shape;422;p42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3" name="Google Shape;423;p42"/>
          <p:cNvSpPr txBox="1"/>
          <p:nvPr/>
        </p:nvSpPr>
        <p:spPr>
          <a:xfrm>
            <a:off x="2592600" y="-112700"/>
            <a:ext cx="395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Structure de la base de données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300" y="106700"/>
            <a:ext cx="5331249" cy="4374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9" name="Google Shape;429;p43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0" name="Google Shape;430;p43"/>
          <p:cNvSpPr txBox="1"/>
          <p:nvPr/>
        </p:nvSpPr>
        <p:spPr>
          <a:xfrm>
            <a:off x="213425" y="1832313"/>
            <a:ext cx="313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Diagramme de séquence : Actionner la ventilation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150" y="156675"/>
            <a:ext cx="4443900" cy="42377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6" name="Google Shape;436;p44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7" name="Google Shape;437;p44"/>
          <p:cNvSpPr txBox="1"/>
          <p:nvPr/>
        </p:nvSpPr>
        <p:spPr>
          <a:xfrm>
            <a:off x="585975" y="1813838"/>
            <a:ext cx="3135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Diagramme de séquence : Mesurer le débit d’air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5" title="Clas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00" y="45600"/>
            <a:ext cx="8155402" cy="44193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" name="Google Shape;443;p45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4" name="Google Shape;444;p45"/>
          <p:cNvSpPr txBox="1"/>
          <p:nvPr/>
        </p:nvSpPr>
        <p:spPr>
          <a:xfrm>
            <a:off x="714475" y="103300"/>
            <a:ext cx="2212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Diagramme de classes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1336250" y="1344525"/>
            <a:ext cx="2625000" cy="81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12121"/>
              </a:solidFill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3961225" y="2327650"/>
            <a:ext cx="2835000" cy="738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1" name="Google Shape;451;p46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2" name="Google Shape;452;p46"/>
          <p:cNvGraphicFramePr/>
          <p:nvPr/>
        </p:nvGraphicFramePr>
        <p:xfrm>
          <a:off x="419100" y="4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{624E9B7D-68EF-425B-9C5F-F9FB8B7825A3}</a:tableStyleId>
              </a:tblPr>
              <a:tblGrid>
                <a:gridCol w="393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MesuresVentilation</a:t>
                      </a:r>
                      <a:endParaRPr sz="1100" b="1"/>
                    </a:p>
                  </a:txBody>
                  <a:tcPr marL="63500" marR="63500" marT="63500" marB="63500"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id_module_ventilation : int</a:t>
                      </a:r>
                      <a:br>
                        <a:rPr lang="en" sz="1100"/>
                      </a:br>
                      <a:r>
                        <a:rPr lang="en" sz="1100"/>
                        <a:t>- debit_air : float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debit_max : float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tension_sortie : float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date : time_t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accesBDD : AccesBDD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ConvertirTensionEnDebit(id_module_ventilation: int, tension_sortie : float, debit_max : float) : float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EnregistrerDebit(id_module_ventilation : int, debit_air : float, date : time_t) : bool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MesuresVentilation()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~MesuresVentilation()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3" name="Google Shape;453;p46"/>
          <p:cNvGraphicFramePr/>
          <p:nvPr/>
        </p:nvGraphicFramePr>
        <p:xfrm>
          <a:off x="4829175" y="4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{624E9B7D-68EF-425B-9C5F-F9FB8B7825A3}</a:tableStyleId>
              </a:tblPr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ParametresVentilation</a:t>
                      </a:r>
                      <a:endParaRPr sz="1100" b="1"/>
                    </a:p>
                  </a:txBody>
                  <a:tcPr marL="63500" marR="63500" marT="63500" marB="63500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id_module_ventilation : int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puissance_demandee : int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puissance_actuelle : int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 date :  time_t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2"/>
                          </a:solidFill>
                        </a:rPr>
                        <a:t>- accesBDD : AccesBDD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EnvoyerPuissance(id_module_ventilation : int, puissance_demandee : int, puissance_actuelle : int) : bool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EnregistrerPuissance(id_module_ventilation : int, puissance_actuelle : int, date : time_t) : bool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ParametresVentilation()</a:t>
                      </a:r>
                      <a:endParaRPr sz="1100"/>
                    </a:p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+ ~ParametresVentilation()</a:t>
                      </a:r>
                      <a:endParaRPr sz="1100"/>
                    </a:p>
                  </a:txBody>
                  <a:tcPr marL="63500" marR="63500" marT="63500" marB="63500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Google Shape;458;p47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9" name="Google Shape;459;p47"/>
          <p:cNvPicPr preferRelativeResize="0"/>
          <p:nvPr/>
        </p:nvPicPr>
        <p:blipFill rotWithShape="1">
          <a:blip r:embed="rId3">
            <a:alphaModFix/>
          </a:blip>
          <a:srcRect t="1404" b="1034"/>
          <a:stretch/>
        </p:blipFill>
        <p:spPr>
          <a:xfrm>
            <a:off x="2382700" y="349750"/>
            <a:ext cx="4378600" cy="41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7"/>
          <p:cNvSpPr txBox="1"/>
          <p:nvPr/>
        </p:nvSpPr>
        <p:spPr>
          <a:xfrm>
            <a:off x="1139100" y="-85375"/>
            <a:ext cx="686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Architecture logicielle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8"/>
          <p:cNvSpPr txBox="1">
            <a:spLocks noGrp="1"/>
          </p:cNvSpPr>
          <p:nvPr>
            <p:ph type="title"/>
          </p:nvPr>
        </p:nvSpPr>
        <p:spPr>
          <a:xfrm>
            <a:off x="2031050" y="1345050"/>
            <a:ext cx="57717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Tests</a:t>
            </a: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467" name="Google Shape;467;p48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04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2" name="Google Shape;472;p49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3" name="Google Shape;473;p49"/>
          <p:cNvSpPr txBox="1"/>
          <p:nvPr/>
        </p:nvSpPr>
        <p:spPr>
          <a:xfrm>
            <a:off x="135250" y="687850"/>
            <a:ext cx="9067800" cy="3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Plan de tests :</a:t>
            </a:r>
            <a:endParaRPr sz="30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 connecter à la base de données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Générer un signal PWM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Récupérer une puissance et l’appliquer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Insérer le débit d’air dans la base de données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Observer la sortie du convertisseur mA -&gt; V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/>
          <p:nvPr/>
        </p:nvSpPr>
        <p:spPr>
          <a:xfrm>
            <a:off x="1036900" y="1817650"/>
            <a:ext cx="7633200" cy="132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50"/>
          <p:cNvSpPr txBox="1"/>
          <p:nvPr/>
        </p:nvSpPr>
        <p:spPr>
          <a:xfrm>
            <a:off x="1748850" y="112700"/>
            <a:ext cx="5646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 connecter à la base de données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80" name="Google Shape;4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5" y="3365400"/>
            <a:ext cx="9048275" cy="4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400" y="3979262"/>
            <a:ext cx="73342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0"/>
          <p:cNvSpPr txBox="1"/>
          <p:nvPr/>
        </p:nvSpPr>
        <p:spPr>
          <a:xfrm>
            <a:off x="904875" y="820700"/>
            <a:ext cx="6821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Base de données :</a:t>
            </a:r>
            <a:r>
              <a:rPr lang="en">
                <a:solidFill>
                  <a:schemeClr val="dk1"/>
                </a:solidFill>
              </a:rPr>
              <a:t> Postgresql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Librairies : </a:t>
            </a:r>
            <a:r>
              <a:rPr lang="en">
                <a:solidFill>
                  <a:schemeClr val="dk1"/>
                </a:solidFill>
              </a:rPr>
              <a:t>PocoData, PocoDataODBC, PocoFoundation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Pré-requis :</a:t>
            </a:r>
            <a:r>
              <a:rPr lang="en">
                <a:solidFill>
                  <a:schemeClr val="dk1"/>
                </a:solidFill>
              </a:rPr>
              <a:t> Raspberry Pi, .odbc.ini, base de données installée, permissions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3" name="Google Shape;483;p50"/>
          <p:cNvSpPr txBox="1"/>
          <p:nvPr/>
        </p:nvSpPr>
        <p:spPr>
          <a:xfrm>
            <a:off x="852400" y="1750975"/>
            <a:ext cx="78177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	Session </a:t>
            </a:r>
            <a:r>
              <a:rPr lang="en" sz="1100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session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"ODBC"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"DSN=Projet_Ventilation_ERP"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valeur = </a:t>
            </a:r>
            <a:r>
              <a:rPr lang="en" sz="11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	Statement </a:t>
            </a:r>
            <a:r>
              <a:rPr lang="en" sz="1100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(session);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	select &lt;&lt; </a:t>
            </a:r>
            <a:r>
              <a:rPr lang="en" sz="11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"SELECT puissance_demandee_pourcentage FROM zone ORDER BY module_id DESC LIMIT 1;"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	into(valeur), now;</a:t>
            </a:r>
            <a:endParaRPr/>
          </a:p>
        </p:txBody>
      </p:sp>
      <p:graphicFrame>
        <p:nvGraphicFramePr>
          <p:cNvPr id="484" name="Google Shape;484;p50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927" y="1681675"/>
            <a:ext cx="2703123" cy="13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68850" y="1703850"/>
            <a:ext cx="2682975" cy="26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1"/>
          <p:cNvSpPr txBox="1"/>
          <p:nvPr/>
        </p:nvSpPr>
        <p:spPr>
          <a:xfrm>
            <a:off x="1748850" y="112700"/>
            <a:ext cx="5646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Générer un signal PWM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2" name="Google Shape;492;p51"/>
          <p:cNvSpPr txBox="1"/>
          <p:nvPr/>
        </p:nvSpPr>
        <p:spPr>
          <a:xfrm>
            <a:off x="904875" y="954475"/>
            <a:ext cx="590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Librairies : </a:t>
            </a:r>
            <a:r>
              <a:rPr lang="en">
                <a:solidFill>
                  <a:schemeClr val="dk1"/>
                </a:solidFill>
              </a:rPr>
              <a:t>Pigpio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Pré-requis :</a:t>
            </a:r>
            <a:r>
              <a:rPr lang="en">
                <a:solidFill>
                  <a:schemeClr val="dk1"/>
                </a:solidFill>
              </a:rPr>
              <a:t> Raspberry Pi, câbles, oscilloscope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93" name="Google Shape;493;p51"/>
          <p:cNvCxnSpPr/>
          <p:nvPr/>
        </p:nvCxnSpPr>
        <p:spPr>
          <a:xfrm>
            <a:off x="2399625" y="2145525"/>
            <a:ext cx="3012300" cy="10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51"/>
          <p:cNvCxnSpPr/>
          <p:nvPr/>
        </p:nvCxnSpPr>
        <p:spPr>
          <a:xfrm>
            <a:off x="2394525" y="2374875"/>
            <a:ext cx="3022500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5" name="Google Shape;495;p51"/>
          <p:cNvSpPr txBox="1"/>
          <p:nvPr/>
        </p:nvSpPr>
        <p:spPr>
          <a:xfrm>
            <a:off x="2872300" y="1742250"/>
            <a:ext cx="30000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Pin 6 : GND</a:t>
            </a:r>
            <a:endParaRPr sz="13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</a:rPr>
              <a:t>Pin 12 : GPIO18</a:t>
            </a:r>
            <a:endParaRPr>
              <a:solidFill>
                <a:srgbClr val="FFFF00"/>
              </a:solidFill>
            </a:endParaRPr>
          </a:p>
        </p:txBody>
      </p:sp>
      <p:graphicFrame>
        <p:nvGraphicFramePr>
          <p:cNvPr id="496" name="Google Shape;496;p51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" name="Google Shape;501;p52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" name="Google Shape;502;p52"/>
          <p:cNvSpPr/>
          <p:nvPr/>
        </p:nvSpPr>
        <p:spPr>
          <a:xfrm>
            <a:off x="755400" y="290725"/>
            <a:ext cx="7633200" cy="132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freq = </a:t>
            </a:r>
            <a:r>
              <a:rPr lang="en" sz="11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rapport = (pourcentage * </a:t>
            </a:r>
            <a:r>
              <a:rPr lang="en" sz="11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" sz="11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gpioSetPWMfrequency(gpio, freq);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gpioPWM(gpio, rapport);</a:t>
            </a:r>
            <a:endParaRPr sz="1800"/>
          </a:p>
        </p:txBody>
      </p:sp>
      <p:pic>
        <p:nvPicPr>
          <p:cNvPr id="503" name="Google Shape;503;p52" title="IMG_20250513_1442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062" y="1711138"/>
            <a:ext cx="3625876" cy="27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/>
          <p:nvPr/>
        </p:nvSpPr>
        <p:spPr>
          <a:xfrm>
            <a:off x="0" y="84125"/>
            <a:ext cx="91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Récupérer une puissance et l’appliquer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09" name="Google Shape;509;p53"/>
          <p:cNvSpPr txBox="1"/>
          <p:nvPr/>
        </p:nvSpPr>
        <p:spPr>
          <a:xfrm>
            <a:off x="532500" y="874075"/>
            <a:ext cx="8079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Librairies : </a:t>
            </a:r>
            <a:r>
              <a:rPr lang="en">
                <a:solidFill>
                  <a:schemeClr val="dk1"/>
                </a:solidFill>
              </a:rPr>
              <a:t>PocoData, PocoDataODBC, PocoFoundation, Pigpio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Pré-requis :</a:t>
            </a:r>
            <a:r>
              <a:rPr lang="en">
                <a:solidFill>
                  <a:schemeClr val="dk1"/>
                </a:solidFill>
              </a:rPr>
              <a:t> Raspberry Pi, .odbc.ini, base de données installée, permissions, câbles, oscilloscope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510" name="Google Shape;510;p53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1" name="Google Shape;5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175" y="2985100"/>
            <a:ext cx="1826700" cy="14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64100" y="1571625"/>
            <a:ext cx="1704725" cy="170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53"/>
          <p:cNvCxnSpPr/>
          <p:nvPr/>
        </p:nvCxnSpPr>
        <p:spPr>
          <a:xfrm flipH="1">
            <a:off x="3145300" y="2737475"/>
            <a:ext cx="666600" cy="771600"/>
          </a:xfrm>
          <a:prstGeom prst="straightConnector1">
            <a:avLst/>
          </a:prstGeom>
          <a:noFill/>
          <a:ln w="2857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4" name="Google Shape;514;p53"/>
          <p:cNvCxnSpPr/>
          <p:nvPr/>
        </p:nvCxnSpPr>
        <p:spPr>
          <a:xfrm flipH="1">
            <a:off x="2992900" y="2489825"/>
            <a:ext cx="857100" cy="914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5" name="Google Shape;515;p53"/>
          <p:cNvCxnSpPr/>
          <p:nvPr/>
        </p:nvCxnSpPr>
        <p:spPr>
          <a:xfrm rot="10800000">
            <a:off x="1720450" y="1860275"/>
            <a:ext cx="2148600" cy="343800"/>
          </a:xfrm>
          <a:prstGeom prst="straightConnector1">
            <a:avLst/>
          </a:prstGeom>
          <a:noFill/>
          <a:ln w="2857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6" name="Google Shape;516;p53"/>
          <p:cNvCxnSpPr/>
          <p:nvPr/>
        </p:nvCxnSpPr>
        <p:spPr>
          <a:xfrm rot="10800000" flipH="1">
            <a:off x="1728350" y="2002975"/>
            <a:ext cx="2177700" cy="42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7" name="Google Shape;517;p53"/>
          <p:cNvSpPr txBox="1"/>
          <p:nvPr/>
        </p:nvSpPr>
        <p:spPr>
          <a:xfrm>
            <a:off x="1789525" y="14896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Pin 6 : GND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518" name="Google Shape;518;p53"/>
          <p:cNvSpPr txBox="1"/>
          <p:nvPr/>
        </p:nvSpPr>
        <p:spPr>
          <a:xfrm>
            <a:off x="1728350" y="20560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</a:rPr>
              <a:t>Pin 12 : GPIO18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19" name="Google Shape;519;p53"/>
          <p:cNvSpPr txBox="1"/>
          <p:nvPr/>
        </p:nvSpPr>
        <p:spPr>
          <a:xfrm>
            <a:off x="3223375" y="33316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GND de l’alimentation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520" name="Google Shape;520;p53"/>
          <p:cNvSpPr txBox="1"/>
          <p:nvPr/>
        </p:nvSpPr>
        <p:spPr>
          <a:xfrm>
            <a:off x="2217875" y="2622425"/>
            <a:ext cx="126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Tension en V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521" name="Google Shape;521;p53"/>
          <p:cNvCxnSpPr/>
          <p:nvPr/>
        </p:nvCxnSpPr>
        <p:spPr>
          <a:xfrm rot="10800000">
            <a:off x="5407675" y="2813075"/>
            <a:ext cx="1538400" cy="18900"/>
          </a:xfrm>
          <a:prstGeom prst="straightConnector1">
            <a:avLst/>
          </a:prstGeom>
          <a:noFill/>
          <a:ln w="2857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2" name="Google Shape;52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945447">
            <a:off x="3473601" y="1499225"/>
            <a:ext cx="2196800" cy="2018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523;p53"/>
          <p:cNvCxnSpPr/>
          <p:nvPr/>
        </p:nvCxnSpPr>
        <p:spPr>
          <a:xfrm>
            <a:off x="5368825" y="2562525"/>
            <a:ext cx="1566900" cy="20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4" name="Google Shape;52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0877" y="1815100"/>
            <a:ext cx="2703123" cy="13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3"/>
          <p:cNvSpPr txBox="1"/>
          <p:nvPr/>
        </p:nvSpPr>
        <p:spPr>
          <a:xfrm>
            <a:off x="5252900" y="1951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Tension en V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26" name="Google Shape;526;p53"/>
          <p:cNvSpPr txBox="1"/>
          <p:nvPr/>
        </p:nvSpPr>
        <p:spPr>
          <a:xfrm>
            <a:off x="5368825" y="30621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GND de la sortie</a:t>
            </a:r>
            <a:endParaRPr sz="1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1" name="Google Shape;531;p54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32" name="Google Shape;532;p54" title="174992264935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013" y="244575"/>
            <a:ext cx="5625974" cy="4222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5"/>
          <p:cNvSpPr txBox="1"/>
          <p:nvPr/>
        </p:nvSpPr>
        <p:spPr>
          <a:xfrm>
            <a:off x="0" y="84125"/>
            <a:ext cx="91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Insérer le débit d’air dans la base de données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8" name="Google Shape;538;p55"/>
          <p:cNvSpPr txBox="1"/>
          <p:nvPr/>
        </p:nvSpPr>
        <p:spPr>
          <a:xfrm>
            <a:off x="532500" y="856300"/>
            <a:ext cx="8079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Librairies : </a:t>
            </a:r>
            <a:r>
              <a:rPr lang="en">
                <a:solidFill>
                  <a:schemeClr val="dk1"/>
                </a:solidFill>
              </a:rPr>
              <a:t>PocoData, PocoDataODBC, PocoFoundation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Pré-requis :</a:t>
            </a:r>
            <a:r>
              <a:rPr lang="en">
                <a:solidFill>
                  <a:schemeClr val="dk1"/>
                </a:solidFill>
              </a:rPr>
              <a:t> Raspberry Pi, .odbc.ini, base de données installée, permissions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539" name="Google Shape;539;p55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0" name="Google Shape;540;p55"/>
          <p:cNvPicPr preferRelativeResize="0"/>
          <p:nvPr/>
        </p:nvPicPr>
        <p:blipFill rotWithShape="1">
          <a:blip r:embed="rId3">
            <a:alphaModFix/>
          </a:blip>
          <a:srcRect b="4113"/>
          <a:stretch/>
        </p:blipFill>
        <p:spPr>
          <a:xfrm>
            <a:off x="2207388" y="1536075"/>
            <a:ext cx="4729225" cy="26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6"/>
          <p:cNvSpPr txBox="1"/>
          <p:nvPr/>
        </p:nvSpPr>
        <p:spPr>
          <a:xfrm>
            <a:off x="0" y="84125"/>
            <a:ext cx="91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Observer la sortie du convertisseur mA -&gt; V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6" name="Google Shape;546;p56"/>
          <p:cNvSpPr txBox="1"/>
          <p:nvPr/>
        </p:nvSpPr>
        <p:spPr>
          <a:xfrm>
            <a:off x="532500" y="856300"/>
            <a:ext cx="807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Pré-requis :</a:t>
            </a:r>
            <a:r>
              <a:rPr lang="en">
                <a:solidFill>
                  <a:schemeClr val="dk1"/>
                </a:solidFill>
              </a:rPr>
              <a:t> Raspberry Pi, câbles, oscilloscope, convertisseur, module de ventilation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547" name="Google Shape;547;p56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8" name="Google Shape;548;p56"/>
          <p:cNvCxnSpPr/>
          <p:nvPr/>
        </p:nvCxnSpPr>
        <p:spPr>
          <a:xfrm rot="10800000">
            <a:off x="4745350" y="1983100"/>
            <a:ext cx="2095500" cy="5715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" name="Google Shape;549;p56"/>
          <p:cNvCxnSpPr/>
          <p:nvPr/>
        </p:nvCxnSpPr>
        <p:spPr>
          <a:xfrm rot="10800000">
            <a:off x="4764550" y="2116450"/>
            <a:ext cx="2038200" cy="533400"/>
          </a:xfrm>
          <a:prstGeom prst="straightConnector1">
            <a:avLst/>
          </a:prstGeom>
          <a:noFill/>
          <a:ln w="2857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56"/>
          <p:cNvCxnSpPr/>
          <p:nvPr/>
        </p:nvCxnSpPr>
        <p:spPr>
          <a:xfrm rot="10800000">
            <a:off x="1906975" y="2611825"/>
            <a:ext cx="4867200" cy="180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56"/>
          <p:cNvCxnSpPr/>
          <p:nvPr/>
        </p:nvCxnSpPr>
        <p:spPr>
          <a:xfrm rot="10800000">
            <a:off x="1992775" y="2840350"/>
            <a:ext cx="4781400" cy="762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56"/>
          <p:cNvCxnSpPr>
            <a:endCxn id="553" idx="3"/>
          </p:cNvCxnSpPr>
          <p:nvPr/>
        </p:nvCxnSpPr>
        <p:spPr>
          <a:xfrm flipH="1">
            <a:off x="5374104" y="3154704"/>
            <a:ext cx="1428600" cy="768600"/>
          </a:xfrm>
          <a:prstGeom prst="straightConnector1">
            <a:avLst/>
          </a:prstGeom>
          <a:noFill/>
          <a:ln w="2857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56"/>
          <p:cNvCxnSpPr/>
          <p:nvPr/>
        </p:nvCxnSpPr>
        <p:spPr>
          <a:xfrm flipH="1">
            <a:off x="5278900" y="3030850"/>
            <a:ext cx="1542900" cy="45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55" name="Google Shape;555;p56" title="1000001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9">
            <a:off x="6608958" y="2083153"/>
            <a:ext cx="2002552" cy="205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9475" y="1256500"/>
            <a:ext cx="1826700" cy="14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775" y="1942300"/>
            <a:ext cx="2002550" cy="20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1553" y="3409757"/>
            <a:ext cx="2002551" cy="1027093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6"/>
          <p:cNvSpPr txBox="1"/>
          <p:nvPr/>
        </p:nvSpPr>
        <p:spPr>
          <a:xfrm>
            <a:off x="4764550" y="2392525"/>
            <a:ext cx="170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GND Alimentation</a:t>
            </a:r>
            <a:endParaRPr/>
          </a:p>
        </p:txBody>
      </p:sp>
      <p:sp>
        <p:nvSpPr>
          <p:cNvPr id="559" name="Google Shape;559;p56"/>
          <p:cNvSpPr txBox="1"/>
          <p:nvPr/>
        </p:nvSpPr>
        <p:spPr>
          <a:xfrm>
            <a:off x="1906975" y="2249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GND Capteur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60" name="Google Shape;560;p56"/>
          <p:cNvSpPr txBox="1"/>
          <p:nvPr/>
        </p:nvSpPr>
        <p:spPr>
          <a:xfrm>
            <a:off x="5611500" y="3726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GND Sortie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61" name="Google Shape;561;p56"/>
          <p:cNvSpPr txBox="1"/>
          <p:nvPr/>
        </p:nvSpPr>
        <p:spPr>
          <a:xfrm>
            <a:off x="2275325" y="2963050"/>
            <a:ext cx="14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Courant en mA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562" name="Google Shape;562;p56"/>
          <p:cNvSpPr txBox="1"/>
          <p:nvPr/>
        </p:nvSpPr>
        <p:spPr>
          <a:xfrm>
            <a:off x="4829100" y="2963050"/>
            <a:ext cx="126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Tension en V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63" name="Google Shape;563;p56"/>
          <p:cNvSpPr txBox="1"/>
          <p:nvPr/>
        </p:nvSpPr>
        <p:spPr>
          <a:xfrm>
            <a:off x="5421650" y="1773313"/>
            <a:ext cx="133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Tension en V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8" name="Google Shape;568;p57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69" name="Google Shape;569;p57" title="17499227413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013" y="162625"/>
            <a:ext cx="5625974" cy="4222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8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8"/>
          <p:cNvSpPr txBox="1">
            <a:spLocks noGrp="1"/>
          </p:cNvSpPr>
          <p:nvPr>
            <p:ph type="title"/>
          </p:nvPr>
        </p:nvSpPr>
        <p:spPr>
          <a:xfrm>
            <a:off x="2031050" y="1345050"/>
            <a:ext cx="57717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Développement</a:t>
            </a: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576" name="Google Shape;576;p58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05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1" name="Google Shape;581;p59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2" name="Google Shape;582;p59"/>
          <p:cNvSpPr txBox="1"/>
          <p:nvPr/>
        </p:nvSpPr>
        <p:spPr>
          <a:xfrm>
            <a:off x="1621200" y="954475"/>
            <a:ext cx="59016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Création d’une documentation du projet : 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Bibliothèques utilisées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Utilisation des différents programmes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Char char="-"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Rôles des classes et des méthodes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7" name="Google Shape;587;p60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8" name="Google Shape;588;p60"/>
          <p:cNvSpPr txBox="1"/>
          <p:nvPr/>
        </p:nvSpPr>
        <p:spPr>
          <a:xfrm>
            <a:off x="1449425" y="497700"/>
            <a:ext cx="6165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Connexion_BDD.cpp : </a:t>
            </a:r>
            <a:r>
              <a:rPr lang="en" sz="1500">
                <a:solidFill>
                  <a:schemeClr val="dk1"/>
                </a:solidFill>
              </a:rPr>
              <a:t>Sélectionne une donnée et l'affiche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9" name="Google Shape;589;p60"/>
          <p:cNvSpPr txBox="1"/>
          <p:nvPr/>
        </p:nvSpPr>
        <p:spPr>
          <a:xfrm>
            <a:off x="1449425" y="913200"/>
            <a:ext cx="6902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PWM.cpp : </a:t>
            </a:r>
            <a:r>
              <a:rPr lang="en" sz="1500">
                <a:solidFill>
                  <a:schemeClr val="dk1"/>
                </a:solidFill>
              </a:rPr>
              <a:t>Génère un signal PWM selon la puissance demandée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0" name="Google Shape;590;p60"/>
          <p:cNvSpPr txBox="1"/>
          <p:nvPr/>
        </p:nvSpPr>
        <p:spPr>
          <a:xfrm>
            <a:off x="1328375" y="2311675"/>
            <a:ext cx="6407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00"/>
                </a:solidFill>
              </a:rPr>
              <a:t>PWM_BDD.cpp : </a:t>
            </a:r>
            <a:r>
              <a:rPr lang="en" sz="1500">
                <a:solidFill>
                  <a:srgbClr val="FFFF00"/>
                </a:solidFill>
              </a:rPr>
              <a:t>Génère un signal PWM selon la puissance demandée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91" name="Google Shape;591;p60"/>
          <p:cNvSpPr/>
          <p:nvPr/>
        </p:nvSpPr>
        <p:spPr>
          <a:xfrm>
            <a:off x="733800" y="328825"/>
            <a:ext cx="7080000" cy="12513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0"/>
          <p:cNvSpPr/>
          <p:nvPr/>
        </p:nvSpPr>
        <p:spPr>
          <a:xfrm>
            <a:off x="3966900" y="1583350"/>
            <a:ext cx="613800" cy="725100"/>
          </a:xfrm>
          <a:prstGeom prst="downArrow">
            <a:avLst>
              <a:gd name="adj1" fmla="val 50000"/>
              <a:gd name="adj2" fmla="val 4878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60"/>
          <p:cNvSpPr txBox="1"/>
          <p:nvPr/>
        </p:nvSpPr>
        <p:spPr>
          <a:xfrm>
            <a:off x="733800" y="2978600"/>
            <a:ext cx="7676400" cy="1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FF00"/>
                </a:solidFill>
              </a:rPr>
              <a:t>// Génère un signal PWM en rapport avec la puissance demandée dans la base de données</a:t>
            </a:r>
            <a:endParaRPr sz="15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+ EnvoyerPuissance(id_module_ventilation : int, puissance_demandee : int, puissance_actuelle : int) : bool</a:t>
            </a:r>
            <a:endParaRPr sz="11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FF00"/>
                </a:solidFill>
              </a:rPr>
              <a:t>// Fait un update dans la base de données en corrélation avec la puissance demandée et actuelle</a:t>
            </a:r>
            <a:endParaRPr sz="1100" b="1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+ EnregistrerPuissance(id_module_ventilation : int, puissance_actuelle : int, date : time_t) : bool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 txBox="1"/>
          <p:nvPr/>
        </p:nvSpPr>
        <p:spPr>
          <a:xfrm>
            <a:off x="2122975" y="485650"/>
            <a:ext cx="59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61"/>
          <p:cNvSpPr txBox="1"/>
          <p:nvPr/>
        </p:nvSpPr>
        <p:spPr>
          <a:xfrm>
            <a:off x="318900" y="0"/>
            <a:ext cx="8506200" cy="46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#ifndef PARAMETRES_VENTILATION_H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#define PARAMETRES_VENTILATION_H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#include &lt;ctime&gt;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#include "AccesBDD.h"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 b="1">
                <a:solidFill>
                  <a:srgbClr val="445588"/>
                </a:solidFill>
                <a:latin typeface="Consolas"/>
                <a:ea typeface="Consolas"/>
                <a:cs typeface="Consolas"/>
                <a:sym typeface="Consolas"/>
              </a:rPr>
              <a:t>ParametresVentilation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id_module_ventilation;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puissance_demandee;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puissance_actuelle;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time_t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date;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AccesBDD accesBDD;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ParametresVentilation();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~ParametresVentilation();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EnvoyerPuissance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id_module_ventilation,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puissance_demandee,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puissance_actuelle);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EnregistrerPuissance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id_module_ventilation, 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puissance_actuelle, </a:t>
            </a:r>
            <a:r>
              <a:rPr lang="en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1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time_t</a:t>
            </a: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date);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#endif</a:t>
            </a:r>
            <a:endParaRPr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" name="Google Shape;604;p62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5" name="Google Shape;605;p62"/>
          <p:cNvSpPr txBox="1"/>
          <p:nvPr/>
        </p:nvSpPr>
        <p:spPr>
          <a:xfrm>
            <a:off x="2773800" y="96000"/>
            <a:ext cx="359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06" name="Google Shape;606;p62"/>
          <p:cNvSpPr txBox="1"/>
          <p:nvPr/>
        </p:nvSpPr>
        <p:spPr>
          <a:xfrm>
            <a:off x="723600" y="2124463"/>
            <a:ext cx="7696800" cy="1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FF00"/>
                </a:solidFill>
              </a:rPr>
              <a:t>// Récupère la sortie du convertisseur et lit la valeur de débit et la transforme en m3/s</a:t>
            </a:r>
            <a:endParaRPr sz="11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+ ConvertirTensionEnDebit(id_module_ventilation: int, tension_sortie : float, debit_max : float) : float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FF00"/>
                </a:solidFill>
              </a:rPr>
              <a:t>// Fait un insert dans la base de données avec les mesures de débit d’air</a:t>
            </a:r>
            <a:endParaRPr sz="11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+ EnregistrerDebit(id_module_ventilation : int, debit_air : float, date : time_t) : bool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7" name="Google Shape;607;p62"/>
          <p:cNvSpPr txBox="1"/>
          <p:nvPr/>
        </p:nvSpPr>
        <p:spPr>
          <a:xfrm>
            <a:off x="1379700" y="746725"/>
            <a:ext cx="6384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Debit_BDD.cpp: </a:t>
            </a:r>
            <a:r>
              <a:rPr lang="en" sz="1500">
                <a:solidFill>
                  <a:schemeClr val="dk1"/>
                </a:solidFill>
              </a:rPr>
              <a:t>Insère toutes les 10s (0,1 Hz) une valeur de débit d’air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3"/>
          <p:cNvSpPr txBox="1"/>
          <p:nvPr/>
        </p:nvSpPr>
        <p:spPr>
          <a:xfrm>
            <a:off x="2122975" y="485650"/>
            <a:ext cx="59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13" name="Google Shape;613;p6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{E506F35A-A5C4-41D3-B9DB-10FE4979A0BD}</a:tableStyleId>
              </a:tblPr>
              <a:tblGrid>
                <a:gridCol w="848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#ifndef PARAMETRES_VENTILATION_H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#define PARAMETRES_VENTILATION_H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#include &lt;ctime&gt;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#include "AccesBDD.h"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 b="1">
                          <a:solidFill>
                            <a:srgbClr val="44558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ParametresVentilation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id_module_ventilation;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puissance_demandee;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puissance_actuelle;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0086B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time_t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date;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AccesBDD accesBDD;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ParametresVentilation();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~ParametresVentilation();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 b="1">
                          <a:solidFill>
                            <a:srgbClr val="99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EnvoyerPuissance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id_module_ventilation,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puissance_demandee,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puissance_actuelle);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 b="1">
                          <a:solidFill>
                            <a:srgbClr val="99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EnregistrerPuissance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id_module_ventilation, 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puissance_actuelle, </a:t>
                      </a:r>
                      <a:r>
                        <a:rPr lang="en" sz="1100">
                          <a:solidFill>
                            <a:srgbClr val="0086B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en" sz="1100" b="1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time_t</a:t>
                      </a: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date);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 b="1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#endif</a:t>
                      </a: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1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"/>
          <p:cNvSpPr/>
          <p:nvPr/>
        </p:nvSpPr>
        <p:spPr>
          <a:xfrm>
            <a:off x="570600" y="1210350"/>
            <a:ext cx="8002800" cy="2940600"/>
          </a:xfrm>
          <a:prstGeom prst="roundRect">
            <a:avLst>
              <a:gd name="adj" fmla="val 11903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title"/>
          </p:nvPr>
        </p:nvSpPr>
        <p:spPr>
          <a:xfrm>
            <a:off x="2031050" y="1345050"/>
            <a:ext cx="46179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Finalité et améliorations</a:t>
            </a: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2"/>
          </p:nvPr>
        </p:nvSpPr>
        <p:spPr>
          <a:xfrm>
            <a:off x="977500" y="1345057"/>
            <a:ext cx="962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swald ExtraLight"/>
                <a:ea typeface="Oswald ExtraLight"/>
                <a:cs typeface="Oswald ExtraLight"/>
                <a:sym typeface="Oswald ExtraLight"/>
              </a:rPr>
              <a:t>06</a:t>
            </a:r>
            <a:r>
              <a:rPr lang="en" sz="6000"/>
              <a:t>.</a:t>
            </a:r>
            <a:endParaRPr sz="6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" name="Google Shape;625;p65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6" name="Google Shape;626;p65"/>
          <p:cNvSpPr txBox="1"/>
          <p:nvPr/>
        </p:nvSpPr>
        <p:spPr>
          <a:xfrm>
            <a:off x="2773800" y="96000"/>
            <a:ext cx="359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1622250" y="246475"/>
            <a:ext cx="5899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Environnement de travail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235750" y="1097850"/>
            <a:ext cx="139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Google Drive :</a:t>
            </a:r>
            <a:endParaRPr/>
          </a:p>
        </p:txBody>
      </p:sp>
      <p:pic>
        <p:nvPicPr>
          <p:cNvPr id="629" name="Google Shape;62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38" y="1603213"/>
            <a:ext cx="8672525" cy="19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" name="Google Shape;634;p66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" name="Google Shape;635;p66"/>
          <p:cNvSpPr txBox="1"/>
          <p:nvPr/>
        </p:nvSpPr>
        <p:spPr>
          <a:xfrm>
            <a:off x="194775" y="401400"/>
            <a:ext cx="139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Github :</a:t>
            </a:r>
            <a:endParaRPr/>
          </a:p>
        </p:txBody>
      </p:sp>
      <p:pic>
        <p:nvPicPr>
          <p:cNvPr id="636" name="Google Shape;63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625" y="771537"/>
            <a:ext cx="2619575" cy="36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775" y="801600"/>
            <a:ext cx="5901225" cy="3663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7"/>
          <p:cNvSpPr/>
          <p:nvPr/>
        </p:nvSpPr>
        <p:spPr>
          <a:xfrm>
            <a:off x="3279475" y="2144650"/>
            <a:ext cx="2437500" cy="850200"/>
          </a:xfrm>
          <a:prstGeom prst="ellipse">
            <a:avLst/>
          </a:prstGeom>
          <a:noFill/>
          <a:ln w="28575" cap="flat" cmpd="sng">
            <a:solidFill>
              <a:srgbClr val="00C3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43" name="Google Shape;643;p67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4" name="Google Shape;644;p67"/>
          <p:cNvSpPr txBox="1"/>
          <p:nvPr/>
        </p:nvSpPr>
        <p:spPr>
          <a:xfrm>
            <a:off x="2773800" y="96000"/>
            <a:ext cx="359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45" name="Google Shape;645;p67"/>
          <p:cNvSpPr txBox="1"/>
          <p:nvPr/>
        </p:nvSpPr>
        <p:spPr>
          <a:xfrm>
            <a:off x="1622250" y="246475"/>
            <a:ext cx="5899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Objectifs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46" name="Google Shape;646;p67"/>
          <p:cNvSpPr txBox="1"/>
          <p:nvPr/>
        </p:nvSpPr>
        <p:spPr>
          <a:xfrm>
            <a:off x="3549000" y="2371650"/>
            <a:ext cx="204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F5E1"/>
                </a:solidFill>
              </a:rPr>
              <a:t>Projet Ventilation ERP</a:t>
            </a:r>
            <a:endParaRPr>
              <a:solidFill>
                <a:srgbClr val="3FF5E1"/>
              </a:solidFill>
            </a:endParaRPr>
          </a:p>
        </p:txBody>
      </p:sp>
      <p:sp>
        <p:nvSpPr>
          <p:cNvPr id="647" name="Google Shape;647;p67"/>
          <p:cNvSpPr txBox="1"/>
          <p:nvPr/>
        </p:nvSpPr>
        <p:spPr>
          <a:xfrm>
            <a:off x="1077450" y="1535100"/>
            <a:ext cx="204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Actionner la ventilation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648" name="Google Shape;648;p67"/>
          <p:cNvSpPr txBox="1"/>
          <p:nvPr/>
        </p:nvSpPr>
        <p:spPr>
          <a:xfrm>
            <a:off x="6096000" y="1535100"/>
            <a:ext cx="204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Communiquer avec la base de données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649" name="Google Shape;649;p67"/>
          <p:cNvSpPr txBox="1"/>
          <p:nvPr/>
        </p:nvSpPr>
        <p:spPr>
          <a:xfrm>
            <a:off x="1304700" y="3560825"/>
            <a:ext cx="282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Acquérir la mesure de débit d’air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50" name="Google Shape;650;p67"/>
          <p:cNvSpPr/>
          <p:nvPr/>
        </p:nvSpPr>
        <p:spPr>
          <a:xfrm rot="-2700000">
            <a:off x="2931228" y="1793158"/>
            <a:ext cx="266438" cy="77852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67"/>
          <p:cNvSpPr/>
          <p:nvPr/>
        </p:nvSpPr>
        <p:spPr>
          <a:xfrm rot="2916459">
            <a:off x="5841925" y="1859699"/>
            <a:ext cx="266329" cy="778583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67"/>
          <p:cNvSpPr/>
          <p:nvPr/>
        </p:nvSpPr>
        <p:spPr>
          <a:xfrm rot="-8909638">
            <a:off x="3098713" y="2731151"/>
            <a:ext cx="266366" cy="77852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67"/>
          <p:cNvSpPr/>
          <p:nvPr/>
        </p:nvSpPr>
        <p:spPr>
          <a:xfrm rot="8794705">
            <a:off x="5637491" y="2728126"/>
            <a:ext cx="266342" cy="778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67"/>
          <p:cNvSpPr txBox="1"/>
          <p:nvPr/>
        </p:nvSpPr>
        <p:spPr>
          <a:xfrm>
            <a:off x="5089050" y="3560838"/>
            <a:ext cx="204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Avoir le projet complet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68"/>
          <p:cNvGraphicFramePr/>
          <p:nvPr/>
        </p:nvGraphicFramePr>
        <p:xfrm>
          <a:off x="0" y="4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{2A70CEB2-0B95-4314-9F23-BD3625BE517C}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Présentation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Analyse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Planification et avancée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Tests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Développement</a:t>
                      </a:r>
                      <a:endParaRPr sz="1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Finalité</a:t>
                      </a:r>
                      <a:endParaRPr sz="1600"/>
                    </a:p>
                  </a:txBody>
                  <a:tcPr marL="91425" marR="91425" marT="91425" marB="91425">
                    <a:lnL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7376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68"/>
          <p:cNvSpPr txBox="1"/>
          <p:nvPr/>
        </p:nvSpPr>
        <p:spPr>
          <a:xfrm>
            <a:off x="2773800" y="96000"/>
            <a:ext cx="359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61" name="Google Shape;661;p68"/>
          <p:cNvSpPr txBox="1"/>
          <p:nvPr/>
        </p:nvSpPr>
        <p:spPr>
          <a:xfrm>
            <a:off x="1622250" y="246475"/>
            <a:ext cx="5899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Améliorations possibles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62" name="Google Shape;662;p68"/>
          <p:cNvSpPr txBox="1"/>
          <p:nvPr/>
        </p:nvSpPr>
        <p:spPr>
          <a:xfrm>
            <a:off x="1395900" y="1270125"/>
            <a:ext cx="6352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Système de logs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Pouvoir faire en sorte que la ventilation s’éteigne à des moments souhaités.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Suppression automatique des anciennes mesures.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3" name="Google Shape;66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87" y="954475"/>
            <a:ext cx="1022600" cy="10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37" y="1846387"/>
            <a:ext cx="1450713" cy="1450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375" y="3032100"/>
            <a:ext cx="1178425" cy="11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Microsoft Office PowerPoint</Application>
  <PresentationFormat>Affichage à l'écran (16:9)</PresentationFormat>
  <Paragraphs>375</Paragraphs>
  <Slides>42</Slides>
  <Notes>42</Notes>
  <HiddenSlides>2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51" baseType="lpstr">
      <vt:lpstr>Oswald</vt:lpstr>
      <vt:lpstr>Consolas</vt:lpstr>
      <vt:lpstr>Arial</vt:lpstr>
      <vt:lpstr>Calibri</vt:lpstr>
      <vt:lpstr>Oswald ExtraLight</vt:lpstr>
      <vt:lpstr>Roboto Condensed Light</vt:lpstr>
      <vt:lpstr>DM Sans</vt:lpstr>
      <vt:lpstr>Poppins</vt:lpstr>
      <vt:lpstr>Technology Project Proposal Minitheme by Slidesgo</vt:lpstr>
      <vt:lpstr>PROJET n°2 Ventilation ERP </vt:lpstr>
      <vt:lpstr>Présentation</vt:lpstr>
      <vt:lpstr>Présentation </vt:lpstr>
      <vt:lpstr>Système et matériel</vt:lpstr>
      <vt:lpstr>Présentation PowerPoint</vt:lpstr>
      <vt:lpstr>Présentation PowerPoint</vt:lpstr>
      <vt:lpstr>Analyse  </vt:lpstr>
      <vt:lpstr>Présentation PowerPoint</vt:lpstr>
      <vt:lpstr>Présentation PowerPoint</vt:lpstr>
      <vt:lpstr>Présentation PowerPoint</vt:lpstr>
      <vt:lpstr>Présentation PowerPoint</vt:lpstr>
      <vt:lpstr>Formules</vt:lpstr>
      <vt:lpstr>Planification et avancée  </vt:lpstr>
      <vt:lpstr>Présentation PowerPoint</vt:lpstr>
      <vt:lpstr>Diagrammes d’activité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Tests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Développement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Finalité et améliorations    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Sofiane El Bouhali</cp:lastModifiedBy>
  <cp:revision>1</cp:revision>
  <dcterms:modified xsi:type="dcterms:W3CDTF">2025-12-06T16:56:15Z</dcterms:modified>
</cp:coreProperties>
</file>